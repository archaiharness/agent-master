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Agent Runtime 控制面与运行面总体设计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94360" y="1170432"/>
            <a:ext cx="7863840" cy="2743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500" b="0">
                <a:solidFill>
                  <a:srgbClr val="AEE6EB"/>
                </a:solidFill>
                <a:latin typeface="PingFang SC" panose="020B0400000000000000" charset="-122"/>
              </a:rPr>
              <a:t>基于 OpenCode、Kubernetes、Redis 与 NAS 的用户级 Agent Runtime 架构</a:t>
            </a:r>
            <a:endParaRPr sz="1500" b="0">
              <a:solidFill>
                <a:srgbClr val="AEE6EB"/>
              </a:solidFill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057400" cy="65836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098548"/>
            <a:ext cx="1911095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600" b="1">
                <a:solidFill>
                  <a:srgbClr val="ECFDFF"/>
                </a:solidFill>
                <a:latin typeface="PingFang SC" panose="020B0400000000000000" charset="-122"/>
              </a:rPr>
              <a:t>客户端 / Agent WebUI</a:t>
            </a:r>
            <a:endParaRPr sz="16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0" y="1938528"/>
            <a:ext cx="1965960" cy="896112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979676"/>
            <a:ext cx="1819656" cy="81381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800" b="1">
                <a:solidFill>
                  <a:srgbClr val="ECFDFF"/>
                </a:solidFill>
                <a:latin typeface="PingFang SC" panose="020B0400000000000000" charset="-122"/>
              </a:rPr>
              <a:t>agent-control</a:t>
            </a:r>
            <a:br>
              <a:rPr sz="180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800" b="1">
                <a:solidFill>
                  <a:srgbClr val="ECFDFF"/>
                </a:solidFill>
                <a:latin typeface="PingFang SC" panose="020B0400000000000000" charset="-122"/>
              </a:rPr>
              <a:t>控制面</a:t>
            </a:r>
            <a:endParaRPr sz="18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70448" y="2057400"/>
            <a:ext cx="1874519" cy="65836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2098548"/>
            <a:ext cx="1728216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600" b="1">
                <a:solidFill>
                  <a:srgbClr val="ECFDFF"/>
                </a:solidFill>
                <a:latin typeface="PingFang SC" panose="020B0400000000000000" charset="-122"/>
              </a:rPr>
              <a:t>Runtime Service</a:t>
            </a:r>
            <a:endParaRPr sz="16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366760" y="2057400"/>
            <a:ext cx="2148840" cy="65836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098548"/>
            <a:ext cx="2002536" cy="5760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600" b="1">
                <a:solidFill>
                  <a:srgbClr val="ECFDFF"/>
                </a:solidFill>
                <a:latin typeface="PingFang SC" panose="020B0400000000000000" charset="-122"/>
              </a:rPr>
              <a:t>OpenCode Runtime</a:t>
            </a:r>
            <a:endParaRPr sz="16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2386584"/>
            <a:ext cx="548640" cy="0"/>
          </a:xfrm>
          <a:prstGeom prst="line">
            <a:avLst/>
          </a:prstGeom>
          <a:ln w="17145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57800" y="2386584"/>
            <a:ext cx="612648" cy="0"/>
          </a:xfrm>
          <a:prstGeom prst="line">
            <a:avLst/>
          </a:prstGeom>
          <a:ln w="17145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744968" y="2386584"/>
            <a:ext cx="621792" cy="0"/>
          </a:xfrm>
          <a:prstGeom prst="line">
            <a:avLst/>
          </a:prstGeom>
          <a:ln w="17145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46120" y="3703320"/>
            <a:ext cx="2057400" cy="77724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9272" y="3744468"/>
            <a:ext cx="1911095" cy="69494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Redis</a:t>
            </a:r>
            <a:br>
              <a:rPr sz="150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实例映射 / TTL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23560" y="3703320"/>
            <a:ext cx="2468880" cy="77724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96712" y="3744468"/>
            <a:ext cx="2322576" cy="69494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Kubernetes</a:t>
            </a:r>
            <a:br>
              <a:rPr sz="150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Deployment 1 副本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366760" y="3703320"/>
            <a:ext cx="2377440" cy="77724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744468"/>
            <a:ext cx="2231136" cy="69494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NAS</a:t>
            </a:r>
            <a:br>
              <a:rPr sz="150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用户目录 / scene 配置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270248" y="2834640"/>
            <a:ext cx="0" cy="868680"/>
          </a:xfrm>
          <a:prstGeom prst="line">
            <a:avLst/>
          </a:prstGeom>
          <a:ln w="17145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12280" y="2715768"/>
            <a:ext cx="0" cy="987552"/>
          </a:xfrm>
          <a:prstGeom prst="line">
            <a:avLst/>
          </a:prstGeom>
          <a:ln w="17145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436608" y="2715768"/>
            <a:ext cx="0" cy="987552"/>
          </a:xfrm>
          <a:prstGeom prst="line">
            <a:avLst/>
          </a:prstGeom>
          <a:ln w="17145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0120" y="5230368"/>
            <a:ext cx="1965960" cy="512064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271516"/>
            <a:ext cx="1819656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控制生命周期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337560" y="5230368"/>
            <a:ext cx="1965960" cy="512064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5271516"/>
            <a:ext cx="1819656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运行标准镜像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715000" y="5230368"/>
            <a:ext cx="1965960" cy="512064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88152" y="5271516"/>
            <a:ext cx="1819656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统一代理入口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092440" y="5230368"/>
            <a:ext cx="1965960" cy="512064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5592" y="5271516"/>
            <a:ext cx="1819656" cy="429768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500" b="1">
                <a:solidFill>
                  <a:srgbClr val="ECFDFF"/>
                </a:solidFill>
                <a:latin typeface="PingFang SC" panose="020B0400000000000000" charset="-122"/>
              </a:rPr>
              <a:t>TTL 自动回收</a:t>
            </a:r>
            <a:endParaRPr sz="1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设计目标：控制面与运行面解耦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60120" y="1737360"/>
            <a:ext cx="4389120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2200" b="1">
                <a:solidFill>
                  <a:srgbClr val="77FFF6"/>
                </a:solidFill>
                <a:latin typeface="PingFang SC" panose="020B0400000000000000" charset="-122"/>
              </a:rPr>
              <a:t>控制面  agent-control</a:t>
            </a:r>
            <a:endParaRPr sz="22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15568" y="2523744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2395728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Runtime 生命周期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15568" y="312724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2999232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多集群调度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15568" y="3730752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3602736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Redis 租约与状态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15568" y="4334255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5024" y="4206240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HTTP / SSE 代理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41620" y="1654937"/>
            <a:ext cx="841248" cy="3063240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42102" y="1938655"/>
            <a:ext cx="237744" cy="804672"/>
          </a:xfrm>
          <a:prstGeom prst="roundRect">
            <a:avLst/>
          </a:prstGeom>
          <a:solidFill>
            <a:srgbClr val="77FFF6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42737" y="3716147"/>
            <a:ext cx="237744" cy="804672"/>
          </a:xfrm>
          <a:prstGeom prst="roundRect">
            <a:avLst/>
          </a:prstGeom>
          <a:solidFill>
            <a:srgbClr val="77FFF6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1493" y="3005582"/>
            <a:ext cx="896112" cy="448310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400" b="1">
                <a:solidFill>
                  <a:srgbClr val="77FFF6"/>
                </a:solidFill>
                <a:latin typeface="PingFang SC" panose="020B0400000000000000" charset="-122"/>
              </a:rPr>
              <a:t>运行</a:t>
            </a:r>
            <a:br>
              <a:rPr sz="1400" b="1">
                <a:solidFill>
                  <a:srgbClr val="77FFF6"/>
                </a:solidFill>
                <a:latin typeface="PingFang SC" panose="020B0400000000000000" charset="-122"/>
              </a:rPr>
            </a:br>
            <a:r>
              <a:rPr sz="1400" b="1">
                <a:solidFill>
                  <a:srgbClr val="77FFF6"/>
                </a:solidFill>
                <a:latin typeface="PingFang SC" panose="020B0400000000000000" charset="-122"/>
              </a:rPr>
              <a:t>契约</a:t>
            </a:r>
            <a:endParaRPr sz="14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86600" y="1737360"/>
            <a:ext cx="4389120" cy="329184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2200" b="1">
                <a:solidFill>
                  <a:srgbClr val="77FFF6"/>
                </a:solidFill>
                <a:latin typeface="PingFang SC" panose="020B0400000000000000" charset="-122"/>
              </a:rPr>
              <a:t>运行面  agent-runtime</a:t>
            </a:r>
            <a:endParaRPr sz="22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150608" y="2523744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2395728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OpenCode Web 镜像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150608" y="312724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2999232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监听 0.0.0.0:4096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150608" y="3730752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0064" y="3602736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默认 /app 项目骨架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150608" y="4334255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4206240"/>
            <a:ext cx="3931920" cy="347472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配置外置，不烘私有数据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325880" y="5806440"/>
            <a:ext cx="9555480" cy="530352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9032" y="5847588"/>
            <a:ext cx="9409176" cy="448056"/>
          </a:xfrm>
          <a:prstGeom prst="rect">
            <a:avLst/>
          </a:prstGeom>
          <a:noFill/>
        </p:spPr>
        <p:txBody>
          <a:bodyPr wrap="square" lIns="45720" tIns="9144" rIns="45720" bIns="9144" anchor="ctr">
            <a:spAutoFit/>
          </a:bodyPr>
          <a:lstStyle/>
          <a:p>
            <a:pPr algn="ctr"/>
            <a:r>
              <a:rPr sz="1800" b="1">
                <a:solidFill>
                  <a:srgbClr val="ECFDFF"/>
                </a:solidFill>
                <a:latin typeface="PingFang SC" panose="020B0400000000000000" charset="-122"/>
              </a:rPr>
              <a:t>控制面决定何时、在哪运行；运行面只提供稳定可启动的 Agent 容器。</a:t>
            </a:r>
            <a:endParaRPr sz="18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总体架构：统一入口 + 多集群 Runtime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874519"/>
            <a:ext cx="1417320" cy="96012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20239"/>
            <a:ext cx="1271016" cy="8686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客户端 /</a:t>
            </a:r>
            <a:br>
              <a:rPr sz="11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Agent WebUI</a:t>
            </a:r>
            <a:endParaRPr sz="11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23160" y="1874519"/>
            <a:ext cx="1691640" cy="960120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920239"/>
            <a:ext cx="1545336" cy="8686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agent-control</a:t>
            </a:r>
            <a:br>
              <a:rPr sz="11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管理 API + 代理</a:t>
            </a:r>
            <a:endParaRPr sz="11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17720" y="1874519"/>
            <a:ext cx="1554480" cy="96012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0872" y="1920239"/>
            <a:ext cx="1408176" cy="8686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Redis</a:t>
            </a:r>
            <a:br>
              <a:rPr sz="11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实例映射 / TTL</a:t>
            </a:r>
            <a:endParaRPr sz="11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20840" y="1874519"/>
            <a:ext cx="1783080" cy="96012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93992" y="1920239"/>
            <a:ext cx="1636776" cy="8686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Kubernetes</a:t>
            </a:r>
            <a:br>
              <a:rPr sz="11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多集群调度</a:t>
            </a:r>
            <a:endParaRPr sz="11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15400" y="1874519"/>
            <a:ext cx="1554480" cy="960120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88552" y="1920239"/>
            <a:ext cx="1408176" cy="8686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Deployment</a:t>
            </a:r>
            <a:br>
              <a:rPr sz="11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1 副本 + Service</a:t>
            </a:r>
            <a:endParaRPr sz="11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652760" y="1874519"/>
            <a:ext cx="1234440" cy="960120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25912" y="1920239"/>
            <a:ext cx="1088136" cy="86868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OpenCode</a:t>
            </a:r>
            <a:br>
              <a:rPr sz="11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150" b="1">
                <a:solidFill>
                  <a:srgbClr val="ECFDFF"/>
                </a:solidFill>
                <a:latin typeface="PingFang SC" panose="020B0400000000000000" charset="-122"/>
              </a:rPr>
              <a:t>Runtime</a:t>
            </a:r>
            <a:endParaRPr sz="11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011680" y="2359152"/>
            <a:ext cx="41148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14800" y="2359152"/>
            <a:ext cx="50292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72200" y="2359152"/>
            <a:ext cx="54864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2359152"/>
            <a:ext cx="41148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469880" y="2359152"/>
            <a:ext cx="18288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61019" y="4117340"/>
            <a:ext cx="3063240" cy="713232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34171" y="4160520"/>
            <a:ext cx="2916936" cy="62179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600" b="1">
                <a:solidFill>
                  <a:srgbClr val="ECFDFF"/>
                </a:solidFill>
                <a:latin typeface="PingFang SC" panose="020B0400000000000000" charset="-122"/>
              </a:rPr>
              <a:t>NAS 用户目录 / scene 配置</a:t>
            </a:r>
            <a:endParaRPr sz="16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25" name="Connector 24"/>
          <p:cNvCxnSpPr>
            <a:stCxn id="24" idx="0"/>
            <a:endCxn id="15" idx="2"/>
          </p:cNvCxnSpPr>
          <p:nvPr/>
        </p:nvCxnSpPr>
        <p:spPr>
          <a:xfrm flipV="1">
            <a:off x="9692640" y="2788920"/>
            <a:ext cx="0" cy="137160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77240" y="5230368"/>
            <a:ext cx="2560320" cy="45720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5276088"/>
            <a:ext cx="2414015" cy="36576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50" b="1">
                <a:solidFill>
                  <a:srgbClr val="ECFDFF"/>
                </a:solidFill>
                <a:latin typeface="PingFang SC" panose="020B0400000000000000" charset="-122"/>
              </a:rPr>
              <a:t>x-user-id 决定 Runtime 归属</a:t>
            </a:r>
            <a:endParaRPr sz="13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840480" y="5230495"/>
            <a:ext cx="3291840" cy="45720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3505" y="5346383"/>
            <a:ext cx="3169285" cy="22542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50" b="1">
                <a:solidFill>
                  <a:srgbClr val="ECFDFF"/>
                </a:solidFill>
                <a:latin typeface="PingFang SC" panose="020B0400000000000000" charset="-122"/>
              </a:rPr>
              <a:t>代理只访问 Service，不访问 Pod IP</a:t>
            </a:r>
            <a:endParaRPr sz="13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726680" y="5230368"/>
            <a:ext cx="2560320" cy="45720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9832" y="5276088"/>
            <a:ext cx="2414015" cy="36576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50" b="1">
                <a:solidFill>
                  <a:srgbClr val="ECFDFF"/>
                </a:solidFill>
                <a:latin typeface="PingFang SC" panose="020B0400000000000000" charset="-122"/>
              </a:rPr>
              <a:t>Runtime 按用户动态启停</a:t>
            </a:r>
            <a:endParaRPr sz="13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Runtime 生命周期：创建、续约、重启、回收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691640"/>
            <a:ext cx="1481328" cy="56692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37360"/>
            <a:ext cx="1335024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700" b="1">
                <a:solidFill>
                  <a:srgbClr val="ECFDFF"/>
                </a:solidFill>
                <a:latin typeface="PingFang SC" panose="020B0400000000000000" charset="-122"/>
              </a:rPr>
              <a:t>pending</a:t>
            </a:r>
            <a:endParaRPr sz="17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075688" y="1975104"/>
            <a:ext cx="420624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96312" y="1691640"/>
            <a:ext cx="1481328" cy="56692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9464" y="1737360"/>
            <a:ext cx="1335024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700" b="1">
                <a:solidFill>
                  <a:srgbClr val="ECFDFF"/>
                </a:solidFill>
                <a:latin typeface="PingFang SC" panose="020B0400000000000000" charset="-122"/>
              </a:rPr>
              <a:t>preparing</a:t>
            </a:r>
            <a:endParaRPr sz="17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977639" y="1975104"/>
            <a:ext cx="420625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98264" y="1691640"/>
            <a:ext cx="1481328" cy="56692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1416" y="1737360"/>
            <a:ext cx="1335024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700" b="1">
                <a:solidFill>
                  <a:srgbClr val="ECFDFF"/>
                </a:solidFill>
                <a:latin typeface="PingFang SC" panose="020B0400000000000000" charset="-122"/>
              </a:rPr>
              <a:t>running</a:t>
            </a:r>
            <a:endParaRPr sz="17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1975104"/>
            <a:ext cx="420624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0216" y="1691640"/>
            <a:ext cx="1481328" cy="56692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37360"/>
            <a:ext cx="1335024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700" b="1">
                <a:solidFill>
                  <a:srgbClr val="ECFDFF"/>
                </a:solidFill>
                <a:latin typeface="PingFang SC" panose="020B0400000000000000" charset="-122"/>
              </a:rPr>
              <a:t>idle</a:t>
            </a:r>
            <a:endParaRPr sz="17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781544" y="1975104"/>
            <a:ext cx="420624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02168" y="1691640"/>
            <a:ext cx="1481328" cy="56692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37360"/>
            <a:ext cx="1335024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700" b="1">
                <a:solidFill>
                  <a:srgbClr val="ECFDFF"/>
                </a:solidFill>
                <a:latin typeface="PingFang SC" panose="020B0400000000000000" charset="-122"/>
              </a:rPr>
              <a:t>terminating</a:t>
            </a:r>
            <a:endParaRPr sz="17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683496" y="1975104"/>
            <a:ext cx="420624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04120" y="1691640"/>
            <a:ext cx="1481328" cy="56692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7272" y="1737360"/>
            <a:ext cx="1335024" cy="47548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700" b="1">
                <a:solidFill>
                  <a:srgbClr val="ECFDFF"/>
                </a:solidFill>
                <a:latin typeface="PingFang SC" panose="020B0400000000000000" charset="-122"/>
              </a:rPr>
              <a:t>terminated</a:t>
            </a:r>
            <a:endParaRPr sz="17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60120" y="2999232"/>
            <a:ext cx="10287000" cy="205740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25880" y="3511296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45336" y="3383280"/>
            <a:ext cx="457200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700" b="0">
                <a:solidFill>
                  <a:srgbClr val="ECFDFF"/>
                </a:solidFill>
                <a:latin typeface="PingFang SC" panose="020B0400000000000000" charset="-122"/>
              </a:rPr>
              <a:t>创建：x-user-id · Redis 幂等 · K8s 调度</a:t>
            </a:r>
            <a:endParaRPr sz="17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217920" y="3511296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383280"/>
            <a:ext cx="457200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700" b="0">
                <a:solidFill>
                  <a:srgbClr val="ECFDFF"/>
                </a:solidFill>
                <a:latin typeface="PingFang SC" panose="020B0400000000000000" charset="-122"/>
              </a:rPr>
              <a:t>续约：普通请求续约 · SSE 周期续约</a:t>
            </a:r>
            <a:endParaRPr sz="17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325880" y="422452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45336" y="4096512"/>
            <a:ext cx="457200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700" b="0">
                <a:solidFill>
                  <a:srgbClr val="ECFDFF"/>
                </a:solidFill>
                <a:latin typeface="PingFang SC" panose="020B0400000000000000" charset="-122"/>
              </a:rPr>
              <a:t>重启：配置更新后重启 Pod 重新加载</a:t>
            </a:r>
            <a:endParaRPr sz="17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217920" y="422452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37376" y="4096512"/>
            <a:ext cx="457200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700" b="0">
                <a:solidFill>
                  <a:srgbClr val="ECFDFF"/>
                </a:solidFill>
                <a:latin typeface="PingFang SC" panose="020B0400000000000000" charset="-122"/>
              </a:rPr>
              <a:t>回收：TTL 到期 / 主动删除 · 清理 Deployment + Service</a:t>
            </a:r>
            <a:endParaRPr sz="17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900" b="1">
                <a:solidFill>
                  <a:srgbClr val="77FFF6"/>
                </a:solidFill>
                <a:latin typeface="PingFang SC" panose="020B0400000000000000" charset="-122"/>
              </a:rPr>
              <a:t>Redis 是状态、资源映射和租约 TTL 的权威存储。</a:t>
            </a:r>
            <a:endParaRPr sz="19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创建流程：x-user-id 到 Deployment + Service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874519"/>
            <a:ext cx="1143000" cy="93268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1. 读取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x-user-id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645920" y="2340864"/>
            <a:ext cx="301752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47672" y="1874519"/>
            <a:ext cx="1143000" cy="93268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2. 查询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Redis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090672" y="2340864"/>
            <a:ext cx="301752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92424" y="1874519"/>
            <a:ext cx="1143000" cy="93268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3. 写入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pending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535424" y="2340864"/>
            <a:ext cx="301752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37176" y="1874519"/>
            <a:ext cx="1143000" cy="93268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4. 资源检查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多集群调度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980176" y="2340864"/>
            <a:ext cx="301752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81928" y="1874519"/>
            <a:ext cx="1143000" cy="93268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5. 构建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WorkloadSpec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424928" y="2340864"/>
            <a:ext cx="301751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26680" y="1874519"/>
            <a:ext cx="1143000" cy="93268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2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6. 创建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Deployment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8869680" y="2340864"/>
            <a:ext cx="301752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71432" y="1874519"/>
            <a:ext cx="1143000" cy="93268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7. 创建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Service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0314432" y="2340864"/>
            <a:ext cx="301752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616184" y="1874519"/>
            <a:ext cx="1143000" cy="93268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9336" y="1920239"/>
            <a:ext cx="996696" cy="8412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8. Pod Ready</a:t>
            </a:r>
            <a:br>
              <a:rPr sz="1050" b="1">
                <a:solidFill>
                  <a:srgbClr val="ECFDFF"/>
                </a:solidFill>
                <a:latin typeface="PingFang SC" panose="020B0400000000000000" charset="-122"/>
              </a:rPr>
            </a:br>
            <a:r>
              <a:rPr sz="1050" b="1">
                <a:solidFill>
                  <a:srgbClr val="ECFDFF"/>
                </a:solidFill>
                <a:latin typeface="PingFang SC" panose="020B0400000000000000" charset="-122"/>
              </a:rPr>
              <a:t>写 running</a:t>
            </a:r>
            <a:endParaRPr sz="105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14400" y="3858768"/>
            <a:ext cx="4846320" cy="105156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224655"/>
            <a:ext cx="1325880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500" b="1">
                <a:solidFill>
                  <a:srgbClr val="77FFF6"/>
                </a:solidFill>
                <a:latin typeface="PingFang SC" panose="020B0400000000000000" charset="-122"/>
              </a:rPr>
              <a:t>调度前检查</a:t>
            </a:r>
            <a:endParaRPr sz="15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331720" y="4224528"/>
            <a:ext cx="324612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0">
                <a:solidFill>
                  <a:srgbClr val="ECFDFF"/>
                </a:solidFill>
                <a:latin typeface="PingFang SC" panose="020B0400000000000000" charset="-122"/>
              </a:rPr>
              <a:t>Node / ResourceQuota / LimitRange / Runtime 分布 / Pod readiness</a:t>
            </a:r>
            <a:endParaRPr sz="13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46520" y="3858768"/>
            <a:ext cx="4572000" cy="105156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224655"/>
            <a:ext cx="1143000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500" b="1">
                <a:solidFill>
                  <a:srgbClr val="77FFF6"/>
                </a:solidFill>
                <a:latin typeface="PingFang SC" panose="020B0400000000000000" charset="-122"/>
              </a:rPr>
              <a:t>挂载规则</a:t>
            </a:r>
            <a:endParaRPr sz="15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35240" y="4224528"/>
            <a:ext cx="315468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0">
                <a:solidFill>
                  <a:srgbClr val="ECFDFF"/>
                </a:solidFill>
                <a:latin typeface="PingFang SC" panose="020B0400000000000000" charset="-122"/>
              </a:rPr>
              <a:t>{runtime.workdir}/{userId} → /app</a:t>
            </a:r>
            <a:endParaRPr sz="13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900" b="1">
                <a:solidFill>
                  <a:srgbClr val="77FFF6"/>
                </a:solidFill>
                <a:latin typeface="PingFang SC" panose="020B0400000000000000" charset="-122"/>
              </a:rPr>
              <a:t>创建流程必须幂等；失败不能留下不可控半成品资源。</a:t>
            </a:r>
            <a:endParaRPr sz="19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Agent API 代理与 scene 会话转换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94360" y="1737360"/>
            <a:ext cx="1691640" cy="74980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783080"/>
            <a:ext cx="1545336" cy="6583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ECFDFF"/>
                </a:solidFill>
                <a:latin typeface="PingFang SC" panose="020B0400000000000000" charset="-122"/>
              </a:rPr>
              <a:t>客户端</a:t>
            </a:r>
            <a:endParaRPr sz="13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286000" y="2112264"/>
            <a:ext cx="54864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34640" y="1737360"/>
            <a:ext cx="1691640" cy="74980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07792" y="1783080"/>
            <a:ext cx="1545336" cy="6583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ECFDFF"/>
                </a:solidFill>
                <a:latin typeface="PingFang SC" panose="020B0400000000000000" charset="-122"/>
              </a:rPr>
              <a:t>/api/v1/runtime/agent/*</a:t>
            </a:r>
            <a:endParaRPr sz="13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2112264"/>
            <a:ext cx="54864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737360"/>
            <a:ext cx="1691640" cy="749808"/>
          </a:xfrm>
          <a:prstGeom prst="roundRect">
            <a:avLst/>
          </a:prstGeom>
          <a:solidFill>
            <a:srgbClr val="0C4870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8072" y="1783080"/>
            <a:ext cx="1545336" cy="6583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ECFDFF"/>
                </a:solidFill>
                <a:latin typeface="PingFang SC" panose="020B0400000000000000" charset="-122"/>
              </a:rPr>
              <a:t>agent-control 代理层</a:t>
            </a:r>
            <a:endParaRPr sz="13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766560" y="2112264"/>
            <a:ext cx="54864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0" y="1737360"/>
            <a:ext cx="1691640" cy="74980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1545336" cy="6583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ECFDFF"/>
                </a:solidFill>
                <a:latin typeface="PingFang SC" panose="020B0400000000000000" charset="-122"/>
              </a:rPr>
              <a:t>Runtime Service</a:t>
            </a:r>
            <a:endParaRPr sz="13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9006840" y="2112264"/>
            <a:ext cx="548640" cy="0"/>
          </a:xfrm>
          <a:prstGeom prst="line">
            <a:avLst/>
          </a:prstGeom>
          <a:ln w="1778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55480" y="1737360"/>
            <a:ext cx="1691640" cy="749808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28632" y="1783080"/>
            <a:ext cx="1545336" cy="65836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300" b="1">
                <a:solidFill>
                  <a:srgbClr val="ECFDFF"/>
                </a:solidFill>
                <a:latin typeface="PingFang SC" panose="020B0400000000000000" charset="-122"/>
              </a:rPr>
              <a:t>OpenCode Server API</a:t>
            </a:r>
            <a:endParaRPr sz="13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" y="3529330"/>
            <a:ext cx="10287000" cy="224028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3972179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45336" y="3854958"/>
            <a:ext cx="950976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600" b="0">
                <a:solidFill>
                  <a:srgbClr val="ECFDFF"/>
                </a:solidFill>
                <a:latin typeface="PingFang SC" panose="020B0400000000000000" charset="-122"/>
              </a:rPr>
              <a:t>读取 x-user-id，过滤 Authorization，校验代理路径</a:t>
            </a:r>
            <a:endParaRPr sz="16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1325880" y="4429379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45336" y="4312158"/>
            <a:ext cx="950976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600" b="0">
                <a:solidFill>
                  <a:srgbClr val="ECFDFF"/>
                </a:solidFill>
                <a:latin typeface="PingFang SC" panose="020B0400000000000000" charset="-122"/>
              </a:rPr>
              <a:t>唯一语义特例：POST session 时 scene → directory=/app/{scene}</a:t>
            </a:r>
            <a:endParaRPr sz="16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325880" y="4886579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45336" y="4769358"/>
            <a:ext cx="950976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600" b="0">
                <a:solidFill>
                  <a:srgbClr val="ECFDFF"/>
                </a:solidFill>
                <a:latin typeface="PingFang SC" panose="020B0400000000000000" charset="-122"/>
              </a:rPr>
              <a:t>scene 不透传给 OpenCode</a:t>
            </a:r>
            <a:endParaRPr sz="16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325880" y="5343779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45336" y="5226558"/>
            <a:ext cx="950976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600" b="0">
                <a:solidFill>
                  <a:srgbClr val="ECFDFF"/>
                </a:solidFill>
                <a:latin typeface="PingFang SC" panose="020B0400000000000000" charset="-122"/>
              </a:rPr>
              <a:t>HTTP 请求与 OpenCode 原生 SSE 均通过 Runtime Service 转发</a:t>
            </a:r>
            <a:endParaRPr sz="16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1155680" cy="502920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存储与挂载契约：Redis + NAS + K8s 标识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77240" y="1417320"/>
            <a:ext cx="3337560" cy="420624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71800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900" b="1">
                <a:solidFill>
                  <a:srgbClr val="77FFF6"/>
                </a:solidFill>
                <a:latin typeface="PingFang SC" panose="020B0400000000000000" charset="-122"/>
              </a:rPr>
              <a:t>Redis</a:t>
            </a:r>
            <a:endParaRPr sz="19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69848" y="2523744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395728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Key: agent-runtime:user:{userId}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69848" y="3090672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9304" y="2962656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status / cluster / namespace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69848" y="3657600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3529584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deploymentName / serviceName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69848" y="422452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4096512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leaseExpireAt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90288" y="1417320"/>
            <a:ext cx="3337560" cy="420624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737360"/>
            <a:ext cx="2971800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900" b="1">
                <a:solidFill>
                  <a:srgbClr val="77FFF6"/>
                </a:solidFill>
                <a:latin typeface="PingFang SC" panose="020B0400000000000000" charset="-122"/>
              </a:rPr>
              <a:t>NAS</a:t>
            </a:r>
            <a:endParaRPr sz="19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882896" y="2523744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2395728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{runtime.workdir}/{userId} → /app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882896" y="3090672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2962656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/app/AGENTS.md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882896" y="3657600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2352" y="3529584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/app/.opencode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882896" y="422452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4096512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/app/{scene} 工作目录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03336" y="1417320"/>
            <a:ext cx="3337560" cy="4206240"/>
          </a:xfrm>
          <a:prstGeom prst="roundRect">
            <a:avLst/>
          </a:prstGeom>
          <a:solidFill>
            <a:srgbClr val="083058"/>
          </a:solidFill>
          <a:ln w="13970">
            <a:solidFill>
              <a:srgbClr val="77F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86215" y="1737360"/>
            <a:ext cx="2971800" cy="310896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900" b="1">
                <a:solidFill>
                  <a:srgbClr val="77FFF6"/>
                </a:solidFill>
                <a:latin typeface="PingFang SC" panose="020B0400000000000000" charset="-122"/>
              </a:rPr>
              <a:t>Kubernetes</a:t>
            </a:r>
            <a:endParaRPr sz="19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695944" y="2523744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15400" y="2395728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runtimeId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695944" y="3090672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2962656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Deployment 1 副本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695944" y="3657600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15400" y="3529584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Service 代理目标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695944" y="4224528"/>
            <a:ext cx="91440" cy="91440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4096512"/>
            <a:ext cx="2788920" cy="347472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400" b="0">
                <a:solidFill>
                  <a:srgbClr val="ECFDFF"/>
                </a:solidFill>
                <a:latin typeface="PingFang SC" panose="020B0400000000000000" charset="-122"/>
              </a:rPr>
              <a:t>Labels / Selector 绑定</a:t>
            </a:r>
            <a:endParaRPr sz="14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400" y="5897880"/>
            <a:ext cx="10332720" cy="329184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800" b="1">
                <a:solidFill>
                  <a:srgbClr val="77FFF6"/>
                </a:solidFill>
                <a:latin typeface="PingFang SC" panose="020B0400000000000000" charset="-122"/>
              </a:rPr>
              <a:t>不保存 kubeconfig、Token、真实内部地址或完整请求体。</a:t>
            </a:r>
            <a:endParaRPr sz="18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5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61378"/>
            <a:ext cx="11155680" cy="401955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lang="zh-CN" sz="2500" b="1">
                <a:solidFill>
                  <a:srgbClr val="ECFDFF"/>
                </a:solidFill>
                <a:latin typeface="PingFang SC" panose="020B0400000000000000" charset="-122"/>
              </a:rPr>
              <a:t>最终目的</a:t>
            </a:r>
            <a:r>
              <a:rPr sz="2500" b="1">
                <a:solidFill>
                  <a:srgbClr val="ECFDFF"/>
                </a:solidFill>
                <a:latin typeface="PingFang SC" panose="020B0400000000000000" charset="-122"/>
              </a:rPr>
              <a:t>：边界清晰，按约束落地</a:t>
            </a:r>
            <a:endParaRPr sz="2500" b="1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502920" y="987552"/>
            <a:ext cx="2057400" cy="0"/>
          </a:xfrm>
          <a:prstGeom prst="line">
            <a:avLst/>
          </a:prstGeom>
          <a:ln w="25400">
            <a:solidFill>
              <a:srgbClr val="77FF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51560" y="2131059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993900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用户级 Runtime：userId -&gt; Runtime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6309360" y="2131059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993900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运行单元：Deployment 1 副本 + Service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051560" y="2880867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2743708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状态权威：Redis Key + TTL 租约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309360" y="2880867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743708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代理路径：/api/v1/runtime/agent/*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51560" y="3630676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3493516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会话转换：scene -&gt; directory=/app/{scene}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309360" y="3630676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3493516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配置加载：启动时加载，变更后重启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51560" y="4380484"/>
            <a:ext cx="100584" cy="100584"/>
          </a:xfrm>
          <a:prstGeom prst="ellipse">
            <a:avLst/>
          </a:prstGeom>
          <a:solidFill>
            <a:srgbClr val="77F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7592" y="4243323"/>
            <a:ext cx="470916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/>
            <a:r>
              <a:rPr sz="1800" b="0">
                <a:solidFill>
                  <a:srgbClr val="ECFDFF"/>
                </a:solidFill>
                <a:latin typeface="PingFang SC" panose="020B0400000000000000" charset="-122"/>
              </a:rPr>
              <a:t>安全边界：凭证不落库，内部地址不外泄</a:t>
            </a:r>
            <a:endParaRPr sz="1800" b="0">
              <a:solidFill>
                <a:srgbClr val="ECFDFF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5806440"/>
            <a:ext cx="10058400" cy="38404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ctr"/>
            <a:r>
              <a:rPr sz="1800" b="1">
                <a:solidFill>
                  <a:srgbClr val="77FFF6"/>
                </a:solidFill>
                <a:latin typeface="PingFang SC" panose="020B0400000000000000" charset="-122"/>
              </a:rPr>
              <a:t>后续重点：K8s adapter · fake store 测试 · HTTP/SSE 代理 · 回收任务 · 敏感信息门禁</a:t>
            </a:r>
            <a:endParaRPr sz="1800" b="1">
              <a:solidFill>
                <a:srgbClr val="77FFF6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1962</Words>
  <Application>WPS 演示</Application>
  <PresentationFormat>On-screen Show (4:3)</PresentationFormat>
  <Paragraphs>198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宋体-简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魏祖潇</cp:lastModifiedBy>
  <cp:revision>4</cp:revision>
  <dcterms:created xsi:type="dcterms:W3CDTF">2026-06-11T19:57:39Z</dcterms:created>
  <dcterms:modified xsi:type="dcterms:W3CDTF">2026-06-11T19:57:39Z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D8479E787ECB8469E1112B6AB1ECF64A_42</vt:lpwstr>
  </property>
</Properties>
</file>